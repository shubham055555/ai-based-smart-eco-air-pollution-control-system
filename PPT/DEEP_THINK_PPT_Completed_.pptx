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8" r:id="rId11"/>
    <p:sldId id="269" r:id="rId12"/>
    <p:sldId id="271" r:id="rId13"/>
    <p:sldId id="264" r:id="rId14"/>
    <p:sldId id="265" r:id="rId15"/>
    <p:sldId id="274" r:id="rId16"/>
    <p:sldId id="266" r:id="rId17"/>
    <p:sldId id="272" r:id="rId18"/>
    <p:sldId id="267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5"/>
  </p:normalViewPr>
  <p:slideViewPr>
    <p:cSldViewPr>
      <p:cViewPr varScale="1">
        <p:scale>
          <a:sx n="80" d="100"/>
          <a:sy n="80" d="100"/>
        </p:scale>
        <p:origin x="144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11B61-EA8E-4495-96DE-22AFBBB8177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BB4CC-1462-448D-86F6-DD761817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05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BB4CC-1462-448D-86F6-DD76181705E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07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4" y="1738422"/>
            <a:ext cx="9130276" cy="50963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169" y="283636"/>
            <a:ext cx="1033788" cy="10796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0098" y="324810"/>
            <a:ext cx="4588009" cy="6450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245" y="71119"/>
            <a:ext cx="6198870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51635" y="3079623"/>
            <a:ext cx="6184900" cy="185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2930" y="954106"/>
            <a:ext cx="27368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705" algn="l"/>
                <a:tab pos="1926589" algn="l"/>
              </a:tabLst>
            </a:pPr>
            <a:r>
              <a:rPr sz="1500" spc="-165" dirty="0">
                <a:solidFill>
                  <a:srgbClr val="1A1A1A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00" spc="-245" dirty="0">
                <a:solidFill>
                  <a:srgbClr val="161616"/>
                </a:solidFill>
                <a:latin typeface="Arial MT"/>
                <a:cs typeface="Arial MT"/>
              </a:rPr>
              <a:t>H</a:t>
            </a:r>
            <a:r>
              <a:rPr sz="1500" spc="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00" spc="-409" dirty="0">
                <a:solidFill>
                  <a:srgbClr val="161616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161616"/>
                </a:solidFill>
                <a:latin typeface="Arial MT"/>
                <a:cs typeface="Arial MT"/>
              </a:rPr>
              <a:t>	</a:t>
            </a:r>
            <a:r>
              <a:rPr sz="1500" spc="-295" dirty="0">
                <a:solidFill>
                  <a:srgbClr val="111111"/>
                </a:solidFill>
                <a:latin typeface="Arial MT"/>
                <a:cs typeface="Arial MT"/>
              </a:rPr>
              <a:t>C</a:t>
            </a:r>
            <a:r>
              <a:rPr sz="15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170" dirty="0">
                <a:solidFill>
                  <a:srgbClr val="161616"/>
                </a:solidFill>
                <a:latin typeface="Arial MT"/>
                <a:cs typeface="Arial MT"/>
              </a:rPr>
              <a:t>O</a:t>
            </a:r>
            <a:r>
              <a:rPr sz="15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0F0F"/>
                </a:solidFill>
                <a:latin typeface="Arial MT"/>
                <a:cs typeface="Arial MT"/>
              </a:rPr>
              <a:t>M</a:t>
            </a:r>
            <a:r>
              <a:rPr sz="1500" spc="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00" spc="-270" dirty="0">
                <a:solidFill>
                  <a:srgbClr val="1A1A1A"/>
                </a:solidFill>
                <a:latin typeface="Arial MT"/>
                <a:cs typeface="Arial MT"/>
              </a:rPr>
              <a:t>P</a:t>
            </a:r>
            <a:r>
              <a:rPr sz="150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00" spc="-240" dirty="0">
                <a:solidFill>
                  <a:srgbClr val="181818"/>
                </a:solidFill>
                <a:latin typeface="Arial MT"/>
                <a:cs typeface="Arial MT"/>
              </a:rPr>
              <a:t>L</a:t>
            </a:r>
            <a:r>
              <a:rPr sz="1500" spc="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00" spc="-350" dirty="0">
                <a:solidFill>
                  <a:srgbClr val="131313"/>
                </a:solidFill>
                <a:latin typeface="Arial MT"/>
                <a:cs typeface="Arial MT"/>
              </a:rPr>
              <a:t>E</a:t>
            </a:r>
            <a:r>
              <a:rPr sz="15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00" spc="-165" dirty="0">
                <a:solidFill>
                  <a:srgbClr val="111111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400" dirty="0">
                <a:solidFill>
                  <a:srgbClr val="1A1A1A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sz="1500" spc="-165" dirty="0">
                <a:solidFill>
                  <a:srgbClr val="0C0C0C"/>
                </a:solidFill>
                <a:latin typeface="Arial MT"/>
                <a:cs typeface="Arial MT"/>
              </a:rPr>
              <a:t>W</a:t>
            </a:r>
            <a:r>
              <a:rPr sz="150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500" spc="-170" dirty="0">
                <a:solidFill>
                  <a:srgbClr val="1A1A1A"/>
                </a:solidFill>
                <a:latin typeface="Arial MT"/>
                <a:cs typeface="Arial MT"/>
              </a:rPr>
              <a:t>O</a:t>
            </a:r>
            <a:r>
              <a:rPr sz="1500" spc="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00" spc="-385" dirty="0">
                <a:solidFill>
                  <a:srgbClr val="131313"/>
                </a:solidFill>
                <a:latin typeface="Arial MT"/>
                <a:cs typeface="Arial MT"/>
              </a:rPr>
              <a:t>R</a:t>
            </a:r>
            <a:r>
              <a:rPr sz="1500" spc="1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00" spc="-240" dirty="0">
                <a:solidFill>
                  <a:srgbClr val="111111"/>
                </a:solidFill>
                <a:latin typeface="Arial MT"/>
                <a:cs typeface="Arial MT"/>
              </a:rPr>
              <a:t>L</a:t>
            </a:r>
            <a:r>
              <a:rPr sz="150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95" dirty="0">
                <a:solidFill>
                  <a:srgbClr val="181818"/>
                </a:solidFill>
                <a:latin typeface="Arial MT"/>
                <a:cs typeface="Arial MT"/>
              </a:rPr>
              <a:t>D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7566" y="954106"/>
            <a:ext cx="17665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6084" algn="l"/>
                <a:tab pos="1638935" algn="l"/>
              </a:tabLst>
            </a:pP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0</a:t>
            </a:r>
            <a:r>
              <a:rPr sz="1500" spc="10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345" dirty="0">
                <a:solidFill>
                  <a:srgbClr val="111111"/>
                </a:solidFill>
                <a:latin typeface="Arial MT"/>
                <a:cs typeface="Arial MT"/>
              </a:rPr>
              <a:t>F</a:t>
            </a: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sz="1500" spc="-350" dirty="0">
                <a:solidFill>
                  <a:srgbClr val="161616"/>
                </a:solidFill>
                <a:latin typeface="Arial MT"/>
                <a:cs typeface="Arial MT"/>
              </a:rPr>
              <a:t>E</a:t>
            </a:r>
            <a:r>
              <a:rPr sz="1500" spc="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00" spc="-245" dirty="0">
                <a:solidFill>
                  <a:srgbClr val="131313"/>
                </a:solidFill>
                <a:latin typeface="Arial MT"/>
                <a:cs typeface="Arial MT"/>
              </a:rPr>
              <a:t>D</a:t>
            </a:r>
            <a:r>
              <a:rPr sz="1500" spc="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00" spc="-204" dirty="0">
                <a:solidFill>
                  <a:srgbClr val="111111"/>
                </a:solidFill>
                <a:latin typeface="Arial MT"/>
                <a:cs typeface="Arial MT"/>
              </a:rPr>
              <a:t>U</a:t>
            </a:r>
            <a:r>
              <a:rPr sz="1500" spc="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295" dirty="0">
                <a:solidFill>
                  <a:srgbClr val="111111"/>
                </a:solidFill>
                <a:latin typeface="Arial MT"/>
                <a:cs typeface="Arial MT"/>
              </a:rPr>
              <a:t>C</a:t>
            </a:r>
            <a:r>
              <a:rPr sz="15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30" dirty="0">
                <a:latin typeface="Arial MT"/>
                <a:cs typeface="Arial MT"/>
              </a:rPr>
              <a:t>AT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lang="en-US" sz="1500" dirty="0">
                <a:solidFill>
                  <a:srgbClr val="151515"/>
                </a:solidFill>
                <a:latin typeface="Arial MT"/>
                <a:cs typeface="Arial MT"/>
              </a:rPr>
              <a:t>ION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200" y="1295400"/>
            <a:ext cx="5422526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A0A0A"/>
                </a:solidFill>
                <a:latin typeface="Arial MT"/>
                <a:cs typeface="Arial MT"/>
              </a:rPr>
              <a:t>Recognised </a:t>
            </a:r>
            <a:r>
              <a:rPr sz="1500" dirty="0">
                <a:latin typeface="Arial MT"/>
                <a:cs typeface="Arial MT"/>
              </a:rPr>
              <a:t>under </a:t>
            </a:r>
            <a:r>
              <a:rPr sz="1500" dirty="0">
                <a:solidFill>
                  <a:srgbClr val="0F0F0F"/>
                </a:solidFill>
                <a:latin typeface="Arial MT"/>
                <a:cs typeface="Arial MT"/>
              </a:rPr>
              <a:t>the </a:t>
            </a:r>
            <a:r>
              <a:rPr sz="1500" dirty="0">
                <a:solidFill>
                  <a:srgbClr val="0C0C0C"/>
                </a:solidFill>
                <a:latin typeface="Arial MT"/>
                <a:cs typeface="Arial MT"/>
              </a:rPr>
              <a:t>section </a:t>
            </a:r>
            <a:r>
              <a:rPr sz="1500" dirty="0">
                <a:solidFill>
                  <a:srgbClr val="131313"/>
                </a:solidFill>
                <a:latin typeface="Arial MT"/>
                <a:cs typeface="Arial MT"/>
              </a:rPr>
              <a:t>2 </a:t>
            </a:r>
            <a:r>
              <a:rPr sz="1500" dirty="0">
                <a:solidFill>
                  <a:srgbClr val="181818"/>
                </a:solidFill>
                <a:latin typeface="Arial MT"/>
                <a:cs typeface="Arial MT"/>
              </a:rPr>
              <a:t>of </a:t>
            </a:r>
            <a:r>
              <a:rPr sz="1500" dirty="0">
                <a:solidFill>
                  <a:srgbClr val="131313"/>
                </a:solidFill>
                <a:latin typeface="Arial MT"/>
                <a:cs typeface="Arial MT"/>
              </a:rPr>
              <a:t>the </a:t>
            </a:r>
            <a:r>
              <a:rPr sz="1500" dirty="0">
                <a:solidFill>
                  <a:srgbClr val="0F0F0F"/>
                </a:solidFill>
                <a:latin typeface="Arial MT"/>
                <a:cs typeface="Arial MT"/>
              </a:rPr>
              <a:t>UGC </a:t>
            </a: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Act </a:t>
            </a:r>
            <a:r>
              <a:rPr sz="1500" dirty="0">
                <a:latin typeface="Arial MT"/>
                <a:cs typeface="Arial MT"/>
              </a:rPr>
              <a:t>1956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40119" y="5837705"/>
            <a:ext cx="407035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-10" dirty="0">
                <a:solidFill>
                  <a:srgbClr val="111111"/>
                </a:solidFill>
                <a:latin typeface="Arial"/>
                <a:cs typeface="Arial"/>
              </a:rPr>
              <a:t>ing</a:t>
            </a:r>
            <a:r>
              <a:rPr sz="1950" i="1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950" i="1" spc="-20" dirty="0">
                <a:latin typeface="Arial"/>
                <a:cs typeface="Arial"/>
              </a:rPr>
              <a:t>the</a:t>
            </a:r>
            <a:r>
              <a:rPr sz="1950" i="1" spc="-114" dirty="0">
                <a:latin typeface="Arial"/>
                <a:cs typeface="Arial"/>
              </a:rPr>
              <a:t> </a:t>
            </a:r>
            <a:r>
              <a:rPr sz="1950" i="1" spc="-30" dirty="0">
                <a:solidFill>
                  <a:srgbClr val="0F0F0F"/>
                </a:solidFill>
                <a:latin typeface="Arial"/>
                <a:cs typeface="Arial"/>
              </a:rPr>
              <a:t>Youth;</a:t>
            </a:r>
            <a:r>
              <a:rPr sz="1950" i="1" spc="-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50" i="1" spc="-50" dirty="0">
                <a:latin typeface="Arial"/>
                <a:cs typeface="Arial"/>
              </a:rPr>
              <a:t>Empowering</a:t>
            </a:r>
            <a:r>
              <a:rPr sz="1950" i="1" spc="60" dirty="0">
                <a:latin typeface="Arial"/>
                <a:cs typeface="Arial"/>
              </a:rPr>
              <a:t> </a:t>
            </a:r>
            <a:r>
              <a:rPr sz="1950" i="1" dirty="0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sz="1950" i="1" spc="-9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950" i="1" spc="-10" dirty="0">
                <a:solidFill>
                  <a:srgbClr val="0F0F0F"/>
                </a:solidFill>
                <a:latin typeface="Arial"/>
                <a:cs typeface="Arial"/>
              </a:rPr>
              <a:t>Nation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556"/>
            <a:ext cx="9124950" cy="6858000"/>
            <a:chOff x="0" y="-2"/>
            <a:chExt cx="91249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912494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8826" y="2062226"/>
              <a:ext cx="6306820" cy="0"/>
            </a:xfrm>
            <a:custGeom>
              <a:avLst/>
              <a:gdLst/>
              <a:ahLst/>
              <a:cxnLst/>
              <a:rect l="l" t="t" r="r" b="b"/>
              <a:pathLst>
                <a:path w="6306820">
                  <a:moveTo>
                    <a:pt x="0" y="0"/>
                  </a:moveTo>
                  <a:lnTo>
                    <a:pt x="6306439" y="0"/>
                  </a:lnTo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152399"/>
              <a:ext cx="6391275" cy="9144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28265" y="2312121"/>
            <a:ext cx="3887470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Pre-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Final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Year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Synopsis</a:t>
            </a:r>
            <a:endParaRPr sz="2400" dirty="0">
              <a:latin typeface="Calibri"/>
              <a:cs typeface="Calibri"/>
            </a:endParaRPr>
          </a:p>
          <a:p>
            <a:pPr algn="ctr">
              <a:lnSpc>
                <a:spcPts val="2865"/>
              </a:lnSpc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Submitted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945558"/>
              </p:ext>
            </p:extLst>
          </p:nvPr>
        </p:nvGraphicFramePr>
        <p:xfrm>
          <a:off x="1676400" y="3079623"/>
          <a:ext cx="6109335" cy="17514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2301730100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Shubham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2301730126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Suryansh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2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n-lt"/>
                          <a:cs typeface="Times New Roman"/>
                        </a:rPr>
                        <a:t>   2301730099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n-lt"/>
                          <a:cs typeface="Times New Roman"/>
                        </a:rPr>
                        <a:t>  Kartik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800" u="none" dirty="0">
                          <a:latin typeface="+mj-lt"/>
                          <a:cs typeface="Times New Roman"/>
                        </a:rPr>
                        <a:t>2301730134</a:t>
                      </a:r>
                      <a:endParaRPr sz="1800" u="none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j-lt"/>
                          <a:cs typeface="Times New Roman"/>
                        </a:rPr>
                        <a:t>  Brijesh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79499" y="1624788"/>
            <a:ext cx="7303135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l"/>
            <a:r>
              <a:rPr lang="en-IN" sz="2800" b="1" i="0" dirty="0">
                <a:solidFill>
                  <a:srgbClr val="111827"/>
                </a:solidFill>
                <a:effectLst/>
                <a:latin typeface="Google Sans Flex"/>
              </a:rPr>
              <a:t>AI-Based-Smart-Eco-Air-Pollution-Control-System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4800" y="5638800"/>
            <a:ext cx="32029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Faculty</a:t>
            </a:r>
            <a:r>
              <a:rPr sz="1800" b="1" spc="-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Calibri"/>
                <a:cs typeface="Calibri"/>
              </a:rPr>
              <a:t>Mr.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Anurag</a:t>
            </a:r>
            <a:r>
              <a:rPr sz="18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Singh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4763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5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5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4" name="object 4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DC0645D7-1B01-4762-8F55-D1A1FE401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" y="1447800"/>
            <a:ext cx="8610599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pollution is a major environmental and health issue, especially in urban and semi-urban areas.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large amount of pollution is generated from point sources like industrial chimneys, workshops, and enclosed spaces.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air purification systems are costly, indoor-focused, and depend on non-biodegradable filters.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systems act after pollution spreads and lack real-time monitoring and intelligent response.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smart, eco-friendly, and low-cost system to control pollution at the source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4763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245" y="71119"/>
            <a:ext cx="6198870" cy="597983"/>
          </a:xfrm>
          <a:prstGeom prst="rect">
            <a:avLst/>
          </a:prstGeom>
        </p:spPr>
        <p:txBody>
          <a:bodyPr vert="horz" wrap="square" lIns="0" tIns="1045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Problem Statement 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12A085-5CCD-42A9-8231-5DA310650B7B}"/>
              </a:ext>
            </a:extLst>
          </p:cNvPr>
          <p:cNvSpPr txBox="1"/>
          <p:nvPr/>
        </p:nvSpPr>
        <p:spPr>
          <a:xfrm>
            <a:off x="381000" y="1341504"/>
            <a:ext cx="8382000" cy="443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Air pollution is a major environmental and health issue, especially in urban and semi-urban areas.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Most pollution originates from point sources like industrial chimneys, workshops, and enclosed spaces.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Existing air purification systems are expensive, inefficient, and mainly designed for indoor use.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There is a lack of real-time monitoring and intelligent control to reduce pollution at the source level.</a:t>
            </a:r>
          </a:p>
        </p:txBody>
      </p:sp>
    </p:spTree>
    <p:extLst>
      <p:ext uri="{BB962C8B-B14F-4D97-AF65-F5344CB8AC3E}">
        <p14:creationId xmlns:p14="http://schemas.microsoft.com/office/powerpoint/2010/main" val="389760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5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dirty="0"/>
              <a:t>Specific</a:t>
            </a:r>
            <a:r>
              <a:rPr spc="-8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F239F10-E54A-4312-A163-E2E310EE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" y="1295400"/>
            <a:ext cx="8580755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smart system for controlling air pollution  at the source using real-time monitoring.</a:t>
            </a:r>
          </a:p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use eco-friendly materials like bamboo and charcoal for sustainable air filtration.</a:t>
            </a:r>
          </a:p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monitor air quality using sensors and automatically activate the system based on pollution levels.</a:t>
            </a:r>
          </a:p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intelligent control logic and ensure a low-cost, scalable solution for indoor and outdoor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6"/>
            <a:ext cx="9144000" cy="68389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301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245" y="1524000"/>
            <a:ext cx="7818755" cy="44147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2780" indent="-64008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Source-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pollution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control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spcBef>
                <a:spcPts val="5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monitoring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AI-</a:t>
            </a:r>
            <a:r>
              <a:rPr sz="2400" dirty="0">
                <a:latin typeface="Arial MT"/>
                <a:cs typeface="Arial MT"/>
              </a:rPr>
              <a:t>driven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automation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Eco-</a:t>
            </a:r>
            <a:r>
              <a:rPr sz="2400" dirty="0">
                <a:latin typeface="Arial MT"/>
                <a:cs typeface="Arial MT"/>
              </a:rPr>
              <a:t>friendly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filtration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spcBef>
                <a:spcPts val="5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20" dirty="0">
                <a:latin typeface="Arial MT"/>
                <a:cs typeface="Arial MT"/>
              </a:rPr>
              <a:t>Low-</a:t>
            </a:r>
            <a:r>
              <a:rPr sz="2400" dirty="0">
                <a:latin typeface="Arial MT"/>
                <a:cs typeface="Arial MT"/>
              </a:rPr>
              <a:t>cost 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scalable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dirty="0">
                <a:latin typeface="Arial MT"/>
                <a:cs typeface="Arial MT"/>
              </a:rPr>
              <a:t>Automatic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Threshold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based</a:t>
            </a:r>
            <a:r>
              <a:rPr sz="2400" spc="-2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Automation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spcBef>
                <a:spcPts val="5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dirty="0">
                <a:latin typeface="Arial MT"/>
                <a:cs typeface="Arial MT"/>
              </a:rPr>
              <a:t>Indoor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Outdoor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Deployment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dirty="0">
                <a:latin typeface="Arial MT"/>
                <a:cs typeface="Arial MT"/>
              </a:rPr>
              <a:t>Energy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efficient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279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Usecases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4004" y="1337881"/>
            <a:ext cx="7617459" cy="442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Industrial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Areas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Chimneys</a:t>
            </a:r>
            <a:endParaRPr sz="1800" dirty="0">
              <a:latin typeface="Arial"/>
              <a:cs typeface="Arial"/>
            </a:endParaRPr>
          </a:p>
          <a:p>
            <a:pPr marL="12700" marR="338455">
              <a:lnSpc>
                <a:spcPct val="1008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installed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near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industrial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chimneys 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emission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reduce </a:t>
            </a:r>
            <a:r>
              <a:rPr sz="1800" dirty="0">
                <a:latin typeface="Arial MT"/>
                <a:cs typeface="Arial MT"/>
              </a:rPr>
              <a:t>pollution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source.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Workshops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Manufacturing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Units</a:t>
            </a:r>
            <a:endParaRPr sz="1800" dirty="0">
              <a:latin typeface="Arial"/>
              <a:cs typeface="Arial"/>
            </a:endParaRPr>
          </a:p>
          <a:p>
            <a:pPr marL="12700" marR="147320">
              <a:lnSpc>
                <a:spcPts val="2100"/>
              </a:lnSpc>
              <a:spcBef>
                <a:spcPts val="140"/>
              </a:spcBef>
            </a:pPr>
            <a:r>
              <a:rPr sz="1800" dirty="0">
                <a:latin typeface="Arial MT"/>
                <a:cs typeface="Arial MT"/>
              </a:rPr>
              <a:t>Controls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dust,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smoke, 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harmful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gases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during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manufacturing processes.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25"/>
              </a:lnSpc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Commercial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Public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Spaces</a:t>
            </a:r>
            <a:endParaRPr sz="1800" dirty="0">
              <a:latin typeface="Arial"/>
              <a:cs typeface="Arial"/>
            </a:endParaRPr>
          </a:p>
          <a:p>
            <a:pPr marL="12700" marR="381000">
              <a:lnSpc>
                <a:spcPct val="100800"/>
              </a:lnSpc>
            </a:pPr>
            <a:r>
              <a:rPr sz="1800" dirty="0">
                <a:latin typeface="Arial MT"/>
                <a:cs typeface="Arial MT"/>
              </a:rPr>
              <a:t>Suitable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malls,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areas,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markets,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high-footfall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zones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ventilation.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30"/>
              </a:lnSpc>
              <a:spcBef>
                <a:spcPts val="15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Educational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Institutions</a:t>
            </a:r>
            <a:endParaRPr sz="1800" dirty="0">
              <a:latin typeface="Arial"/>
              <a:cs typeface="Arial"/>
            </a:endParaRPr>
          </a:p>
          <a:p>
            <a:pPr marL="12700" marR="500380">
              <a:lnSpc>
                <a:spcPts val="2180"/>
              </a:lnSpc>
              <a:spcBef>
                <a:spcPts val="30"/>
              </a:spcBef>
            </a:pP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deployed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classrooms,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laboratories,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corridors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improve </a:t>
            </a:r>
            <a:r>
              <a:rPr sz="1800" dirty="0">
                <a:latin typeface="Arial MT"/>
                <a:cs typeface="Arial MT"/>
              </a:rPr>
              <a:t>indoor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quality.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00"/>
              </a:lnSpc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spc="-10" dirty="0">
                <a:latin typeface="Arial"/>
                <a:cs typeface="Arial"/>
              </a:rPr>
              <a:t>Semi-</a:t>
            </a:r>
            <a:r>
              <a:rPr sz="1800" b="1" dirty="0">
                <a:latin typeface="Arial"/>
                <a:cs typeface="Arial"/>
              </a:rPr>
              <a:t>Urban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Rural</a:t>
            </a:r>
            <a:r>
              <a:rPr sz="1800" b="1" spc="-10" dirty="0">
                <a:latin typeface="Arial"/>
                <a:cs typeface="Arial"/>
              </a:rPr>
              <a:t> Locations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Effective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lacking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expensive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purification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infrastructure.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30"/>
              </a:lnSpc>
              <a:spcBef>
                <a:spcPts val="20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Indoor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Enclosed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Spaces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maintain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healthier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rooms,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basements,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storage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areas.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279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028BC39-5731-42A1-A81C-25728FE3C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86801"/>
            <a:ext cx="8077200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source-level air pollution control instead of general ambient air purification.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real-time air quality monitoring using IoT-based sensors.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intelligent and automatic operation using threshold-based and AI-driven decision logic.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Designed as a low-cost,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eco-friendly, and scalable system with future scope for cloud integration and mobile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dirty="0"/>
              <a:t>Prototype/Project</a:t>
            </a:r>
            <a:r>
              <a:rPr spc="-275" dirty="0"/>
              <a:t> </a:t>
            </a:r>
            <a:r>
              <a:rPr spc="-20" dirty="0"/>
              <a:t>Flow </a:t>
            </a:r>
            <a:r>
              <a:rPr spc="-10" dirty="0"/>
              <a:t>diagram/Architecture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975" y="2038350"/>
            <a:ext cx="8782050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E07D15-521F-4B13-6877-8E798A63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8902A5B-0256-8D7E-2DDF-63BAF55E05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F41E147-49AB-50B1-3014-637C584A3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406" y="310639"/>
            <a:ext cx="6198870" cy="527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lang="en-US" spc="-10" dirty="0"/>
              <a:t>METHODOLOGY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AD71C47-277F-F092-FE8F-11E5CE606C47}"/>
              </a:ext>
            </a:extLst>
          </p:cNvPr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52593E2-8BEC-6D81-ECDA-79D94E1084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727AB1-C18D-1082-9C4C-7445C2E36AE0}"/>
              </a:ext>
            </a:extLst>
          </p:cNvPr>
          <p:cNvSpPr txBox="1"/>
          <p:nvPr/>
        </p:nvSpPr>
        <p:spPr>
          <a:xfrm>
            <a:off x="207644" y="1286494"/>
            <a:ext cx="6726555" cy="426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Step 1: Data Collection – PM2.5, MQ135 &amp; DHT11 sensors capture real-time air quality data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Step 2: Data Processing – Arduino UNO reads sensor values and processes them in real time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Step 3: Decision Logic – AI/rule-based threshold check; if AQI exceeds limit, system activates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Step 4: Filtration Activation – DC motor drives eco-friendly bamboo/charcoal filter unit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Step 5: Output &amp; Display – Clean air released; AQI readings shown on I2C LCD in real time</a:t>
            </a:r>
          </a:p>
        </p:txBody>
      </p:sp>
    </p:spTree>
    <p:extLst>
      <p:ext uri="{BB962C8B-B14F-4D97-AF65-F5344CB8AC3E}">
        <p14:creationId xmlns:p14="http://schemas.microsoft.com/office/powerpoint/2010/main" val="486982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CF8529-312E-22CD-C738-B7CEADE9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F6C5D75-CF1D-FC6D-0C4C-2A6C8AD94D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207D42A-874F-71AF-73CE-9AB19ABCD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81" y="301733"/>
            <a:ext cx="7742555" cy="527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lang="en-US" spc="-10" dirty="0"/>
              <a:t>PROTOTYPE/IMPLEMENTATION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E6B560F-0AD0-2C4A-6A1F-86C895C635B0}"/>
              </a:ext>
            </a:extLst>
          </p:cNvPr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BDCF661-A0D2-3342-46E2-1C2E011C807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4A5F77-743C-4426-EA02-FEA0CCF006E4}"/>
              </a:ext>
            </a:extLst>
          </p:cNvPr>
          <p:cNvSpPr txBox="1"/>
          <p:nvPr/>
        </p:nvSpPr>
        <p:spPr>
          <a:xfrm>
            <a:off x="436244" y="1600200"/>
            <a:ext cx="8733156" cy="3405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Working prototype built using Arduino UNO as the central microcontroller unit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PM2.5, MQ135 (CO2/smoke) &amp; DHT11 (temp/humidity) sensors integrated with Arduino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Real-time AQI values displayed on 16x2 I2C LCD module for continuous monitoring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Automatic DC motor-driven filtration activated when pollution crosses threshold value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Eco-friendly bamboo &amp; activated charcoal filter used as sustainable filtration medium</a:t>
            </a:r>
          </a:p>
        </p:txBody>
      </p:sp>
    </p:spTree>
    <p:extLst>
      <p:ext uri="{BB962C8B-B14F-4D97-AF65-F5344CB8AC3E}">
        <p14:creationId xmlns:p14="http://schemas.microsoft.com/office/powerpoint/2010/main" val="31331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5664C2-5720-B057-3AE1-EDE976C2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09AF9F3-BCE9-DC49-28E5-CDC3617D8D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1C01954-6F23-47CC-C6EE-582C20A243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244" y="71119"/>
            <a:ext cx="7742555" cy="527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lang="en-US" spc="-10" dirty="0"/>
              <a:t>PROJECT PROGRESS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B56E8E9-CF4C-20C5-A968-6C388C8AE6DF}"/>
              </a:ext>
            </a:extLst>
          </p:cNvPr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7A88923-B5DE-32A9-2C0B-D85CB29423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265B69-9484-2FB5-592B-6898300BF1F6}"/>
              </a:ext>
            </a:extLst>
          </p:cNvPr>
          <p:cNvSpPr txBox="1"/>
          <p:nvPr/>
        </p:nvSpPr>
        <p:spPr>
          <a:xfrm>
            <a:off x="304800" y="1049400"/>
            <a:ext cx="8610600" cy="436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All Phases Successfully Completed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dirty="0"/>
          </a:p>
          <a:p>
            <a:pPr marL="457200" indent="-457200">
              <a:lnSpc>
                <a:spcPct val="120000"/>
              </a:lnSpc>
              <a:buChar char="✓"/>
            </a:pPr>
            <a:r>
              <a:rPr lang="en-US" sz="1800" b="1" dirty="0"/>
              <a:t>Phase 1 – </a:t>
            </a:r>
            <a:r>
              <a:rPr lang="en-US" sz="1800" dirty="0"/>
              <a:t>Problem Identification &amp; Literature Review</a:t>
            </a:r>
          </a:p>
          <a:p>
            <a:pPr marL="457200" indent="-457200">
              <a:lnSpc>
                <a:spcPct val="120000"/>
              </a:lnSpc>
              <a:buChar char="✓"/>
            </a:pPr>
            <a:r>
              <a:rPr lang="en-US" sz="1800" b="1" dirty="0"/>
              <a:t>Phase 2 – </a:t>
            </a:r>
            <a:r>
              <a:rPr lang="en-US" sz="1800" dirty="0"/>
              <a:t>System Design &amp; Architecture Planning</a:t>
            </a:r>
          </a:p>
          <a:p>
            <a:pPr marL="457200" indent="-457200">
              <a:lnSpc>
                <a:spcPct val="120000"/>
              </a:lnSpc>
              <a:buChar char="✓"/>
            </a:pPr>
            <a:r>
              <a:rPr lang="en-US" sz="1800" b="1" dirty="0"/>
              <a:t>Phase 3 – </a:t>
            </a:r>
            <a:r>
              <a:rPr lang="en-US" sz="1800" dirty="0"/>
              <a:t>Hardware Setup &amp; Sensor Integration</a:t>
            </a:r>
          </a:p>
          <a:p>
            <a:pPr marL="457200" indent="-457200">
              <a:lnSpc>
                <a:spcPct val="120000"/>
              </a:lnSpc>
              <a:buChar char="✓"/>
            </a:pPr>
            <a:r>
              <a:rPr lang="en-US" sz="1800" b="1" dirty="0"/>
              <a:t>Phase 4 – </a:t>
            </a:r>
            <a:r>
              <a:rPr lang="en-US" sz="1800" dirty="0"/>
              <a:t>Embedded Programming &amp; AI Logic Implementation</a:t>
            </a:r>
          </a:p>
          <a:p>
            <a:pPr marL="457200" indent="-457200">
              <a:lnSpc>
                <a:spcPct val="120000"/>
              </a:lnSpc>
              <a:buChar char="✓"/>
            </a:pPr>
            <a:r>
              <a:rPr lang="en-US" sz="1800" b="1" dirty="0"/>
              <a:t>Phase 5 – </a:t>
            </a:r>
            <a:r>
              <a:rPr lang="en-US" sz="1800" dirty="0"/>
              <a:t>Filtration System Development</a:t>
            </a:r>
          </a:p>
          <a:p>
            <a:pPr marL="457200" indent="-457200">
              <a:lnSpc>
                <a:spcPct val="120000"/>
              </a:lnSpc>
              <a:buChar char="✓"/>
            </a:pPr>
            <a:r>
              <a:rPr lang="en-US" sz="1800" b="1" dirty="0"/>
              <a:t>Phase 6 – </a:t>
            </a:r>
            <a:r>
              <a:rPr lang="en-US" sz="1800" dirty="0"/>
              <a:t>Testing, Evaluation &amp; Optimization</a:t>
            </a:r>
          </a:p>
          <a:p>
            <a:pPr marL="457200" indent="-457200">
              <a:lnSpc>
                <a:spcPct val="120000"/>
              </a:lnSpc>
              <a:buChar char="✓"/>
            </a:pPr>
            <a:r>
              <a:rPr lang="en-US" sz="1800" b="1" dirty="0"/>
              <a:t>Phase 7 – </a:t>
            </a:r>
            <a:r>
              <a:rPr lang="en-US" sz="1800" dirty="0"/>
              <a:t>Documentation &amp; Final Presentation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Overall Status: </a:t>
            </a:r>
            <a:r>
              <a:rPr lang="en-US" sz="1800" dirty="0"/>
              <a:t>Project successfully completed within planned timeline. Prototype is fully functional and validated.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78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" y="1376362"/>
            <a:ext cx="794385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Expected</a:t>
            </a:r>
            <a:r>
              <a:rPr spc="-95" dirty="0"/>
              <a:t> </a:t>
            </a:r>
            <a:r>
              <a:rPr dirty="0"/>
              <a:t>Results</a:t>
            </a:r>
            <a:r>
              <a:rPr spc="-5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10" dirty="0"/>
              <a:t>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7645" y="1752600"/>
            <a:ext cx="8138159" cy="37848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77875" indent="-765175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777875" algn="l"/>
              </a:tabLst>
            </a:pPr>
            <a:r>
              <a:rPr sz="2750" dirty="0">
                <a:latin typeface="Arial MT"/>
                <a:cs typeface="Arial MT"/>
              </a:rPr>
              <a:t>Reduction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air</a:t>
            </a:r>
            <a:r>
              <a:rPr sz="2750" spc="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pollution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at</a:t>
            </a:r>
            <a:r>
              <a:rPr sz="2750" spc="1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source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locations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Improvement</a:t>
            </a:r>
            <a:r>
              <a:rPr sz="2750" spc="1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local</a:t>
            </a:r>
            <a:r>
              <a:rPr sz="2750" spc="1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air</a:t>
            </a:r>
            <a:r>
              <a:rPr sz="2750" spc="15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quality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80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Real-time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monitoring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1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pollution</a:t>
            </a:r>
            <a:r>
              <a:rPr sz="2750" spc="24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levels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80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Automatic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and</a:t>
            </a:r>
            <a:r>
              <a:rPr sz="2750" spc="1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efficient</a:t>
            </a:r>
            <a:r>
              <a:rPr sz="2750" spc="1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system</a:t>
            </a:r>
            <a:r>
              <a:rPr sz="2750" spc="10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operation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Eco-friendly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alternative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to</a:t>
            </a:r>
            <a:r>
              <a:rPr sz="2750" spc="2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synthetic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filters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80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Low-cost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solution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suitable</a:t>
            </a:r>
            <a:r>
              <a:rPr sz="2750" spc="20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for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wide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deployment</a:t>
            </a:r>
            <a:endParaRPr sz="27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"/>
          <p:cNvSpPr txBox="1">
            <a:spLocks noGrp="1"/>
          </p:cNvSpPr>
          <p:nvPr>
            <p:ph type="title"/>
          </p:nvPr>
        </p:nvSpPr>
        <p:spPr>
          <a:xfrm>
            <a:off x="182244" y="71119"/>
            <a:ext cx="7742555" cy="527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lang="en-US" spc="-10" dirty="0"/>
              <a:t>FUTURE SCOPE</a:t>
            </a:r>
          </a:p>
        </p:txBody>
      </p:sp>
      <p:sp>
        <p:nvSpPr>
          <p:cNvPr id="4" name="line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logo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content"/>
          <p:cNvSpPr txBox="1"/>
          <p:nvPr/>
        </p:nvSpPr>
        <p:spPr>
          <a:xfrm>
            <a:off x="304800" y="1120000"/>
            <a:ext cx="86106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Cloud Integration &amp; Remote Monitoring</a:t>
            </a:r>
          </a:p>
          <a:p>
            <a:pPr marL="571500" indent="-285750">
              <a:lnSpc>
                <a:spcPct val="110000"/>
              </a:lnSpc>
              <a:buNone/>
            </a:pPr>
            <a:r>
              <a:rPr lang="en-US" sz="1500" dirty="0"/>
              <a:t>Connect system to AWS / Google Cloud IoT for real-time remote data access and automated alerts via a mobile app.</a:t>
            </a:r>
          </a:p>
          <a:p>
            <a:pPr>
              <a:lnSpc>
                <a:spcPct val="60000"/>
              </a:lnSpc>
            </a:pPr>
            <a:endParaRPr lang="en-US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AI-Powered Predictive Pollution Control</a:t>
            </a:r>
          </a:p>
          <a:p>
            <a:pPr marL="571500" indent="-285750">
              <a:lnSpc>
                <a:spcPct val="110000"/>
              </a:lnSpc>
              <a:buNone/>
            </a:pPr>
            <a:r>
              <a:rPr lang="en-US" sz="1500" dirty="0"/>
              <a:t>Replace rule-based logic with ML models (LSTM / Random Forest) to predict AQI spikes before they occur.</a:t>
            </a:r>
          </a:p>
          <a:p>
            <a:pPr>
              <a:lnSpc>
                <a:spcPct val="60000"/>
              </a:lnSpc>
            </a:pPr>
            <a:endParaRPr lang="en-US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Solar-Powered &amp; Energy-Autonomous Operation</a:t>
            </a:r>
          </a:p>
          <a:p>
            <a:pPr marL="571500" indent="-285750">
              <a:lnSpc>
                <a:spcPct val="110000"/>
              </a:lnSpc>
              <a:buNone/>
            </a:pPr>
            <a:r>
              <a:rPr lang="en-US" sz="1500" dirty="0"/>
              <a:t>Integrate solar panels and battery backup for fully self-sustaining operation in rural and off-grid locations.</a:t>
            </a:r>
          </a:p>
          <a:p>
            <a:pPr>
              <a:lnSpc>
                <a:spcPct val="60000"/>
              </a:lnSpc>
            </a:pPr>
            <a:endParaRPr lang="en-US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Multi-Pollutant Detection &amp; Expanded Sensor Suite</a:t>
            </a:r>
          </a:p>
          <a:p>
            <a:pPr marL="571500" indent="-285750">
              <a:lnSpc>
                <a:spcPct val="110000"/>
              </a:lnSpc>
              <a:buNone/>
            </a:pPr>
            <a:r>
              <a:rPr lang="en-US" sz="1500" dirty="0"/>
              <a:t>Add VOC, CO, NO2 and ozone sensors to enable industrial-grade multi-pollutant air quality analysis.</a:t>
            </a:r>
          </a:p>
          <a:p>
            <a:pPr>
              <a:lnSpc>
                <a:spcPct val="60000"/>
              </a:lnSpc>
            </a:pPr>
            <a:endParaRPr lang="en-US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/>
              <a:t>Smart City &amp; Government-Level Deployment</a:t>
            </a:r>
          </a:p>
          <a:p>
            <a:pPr marL="571500" indent="-285750">
              <a:lnSpc>
                <a:spcPct val="110000"/>
              </a:lnSpc>
              <a:buNone/>
            </a:pPr>
            <a:r>
              <a:rPr lang="en-US" sz="1500" dirty="0"/>
              <a:t>Scale as networked Smart City AQI nodes, collaborating with municipal bodies for large-scale urban pollution management.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55" dirty="0"/>
              <a:t> </a:t>
            </a:r>
            <a:r>
              <a:rPr spc="-10" dirty="0"/>
              <a:t>Timeline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" y="1628775"/>
            <a:ext cx="8715375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45" y="71119"/>
            <a:ext cx="6198870" cy="746999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Conclusion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D50D1-FF29-4314-981F-C91E572D8D02}"/>
              </a:ext>
            </a:extLst>
          </p:cNvPr>
          <p:cNvSpPr txBox="1"/>
          <p:nvPr/>
        </p:nvSpPr>
        <p:spPr>
          <a:xfrm>
            <a:off x="182245" y="1316242"/>
            <a:ext cx="7818755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The project successfully demonstrates a smart system for controlling air pollution at the source level.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It provides real-time monitoring and automatic activation, improving efficiency and response time.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The use of eco-friendly materials makes the system sustainable and cost-effective.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Overall, the system is scalable, practical, and has strong potential for real-world applications.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72738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43735" y="2669539"/>
            <a:ext cx="5441315" cy="1124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200" b="0" spc="50" dirty="0">
                <a:solidFill>
                  <a:srgbClr val="005FAA"/>
                </a:solidFill>
                <a:latin typeface="Times New Roman"/>
                <a:cs typeface="Times New Roman"/>
              </a:rPr>
              <a:t>THANK</a:t>
            </a:r>
            <a:r>
              <a:rPr sz="7200" b="0" spc="-20" dirty="0">
                <a:solidFill>
                  <a:srgbClr val="005FAA"/>
                </a:solidFill>
                <a:latin typeface="Times New Roman"/>
                <a:cs typeface="Times New Roman"/>
              </a:rPr>
              <a:t> </a:t>
            </a:r>
            <a:r>
              <a:rPr sz="7200" b="0" spc="-55" dirty="0">
                <a:solidFill>
                  <a:srgbClr val="E21E23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952</Words>
  <Application>Microsoft Office PowerPoint</Application>
  <PresentationFormat>On-screen Show (4:3)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MT</vt:lpstr>
      <vt:lpstr>Calibri</vt:lpstr>
      <vt:lpstr>Google Sans Flex</vt:lpstr>
      <vt:lpstr>Times New Roman</vt:lpstr>
      <vt:lpstr>Verdana</vt:lpstr>
      <vt:lpstr>Wingdings</vt:lpstr>
      <vt:lpstr>Office Theme</vt:lpstr>
      <vt:lpstr>PowerPoint Presentation</vt:lpstr>
      <vt:lpstr>AI-Based-Smart-Eco-Air-Pollution-Control-System</vt:lpstr>
      <vt:lpstr>Project Overview</vt:lpstr>
      <vt:lpstr>Problem Statement </vt:lpstr>
      <vt:lpstr>Specific Objectives</vt:lpstr>
      <vt:lpstr>Key Features</vt:lpstr>
      <vt:lpstr>Project Usecases</vt:lpstr>
      <vt:lpstr>Project Scope</vt:lpstr>
      <vt:lpstr>Prototype/Project Flow diagram/Architecture</vt:lpstr>
      <vt:lpstr>METHODOLOGY</vt:lpstr>
      <vt:lpstr>PROTOTYPE/IMPLEMENTATION</vt:lpstr>
      <vt:lpstr>PROJECT PROGRESS</vt:lpstr>
      <vt:lpstr>Data &amp; Resources</vt:lpstr>
      <vt:lpstr>Expected Results &amp; Impact</vt:lpstr>
      <vt:lpstr>FUTURE SCOPE</vt:lpstr>
      <vt:lpstr>Project Timeline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</dc:creator>
  <cp:lastModifiedBy>SHUBHAM</cp:lastModifiedBy>
  <cp:revision>8</cp:revision>
  <dcterms:created xsi:type="dcterms:W3CDTF">2026-03-17T02:19:08Z</dcterms:created>
  <dcterms:modified xsi:type="dcterms:W3CDTF">2026-04-04T10:54:52Z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LastSaved">
    <vt:filetime>2026-03-17T00:00:00Z</vt:filetime>
  </property>
</Properties>
</file>