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PM2.5 Inlet vs Outlet (µg/m³)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Inlet PM2.5</c:v>
                </c:pt>
              </c:strCache>
            </c:strRef>
          </c:tx>
          <c:spPr>
            <a:solidFill>
              <a:srgbClr val="1B6B35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Trial 1</c:v>
                </c:pt>
                <c:pt idx="1">
                  <c:v>Trial 2</c:v>
                </c:pt>
                <c:pt idx="2">
                  <c:v>Trial 3</c:v>
                </c:pt>
                <c:pt idx="3">
                  <c:v>Trial 4</c:v>
                </c:pt>
                <c:pt idx="4">
                  <c:v>Trial 5</c:v>
                </c:pt>
                <c:pt idx="5">
                  <c:v>Trial 6</c:v>
                </c:pt>
                <c:pt idx="6">
                  <c:v>Trial 7</c:v>
                </c:pt>
                <c:pt idx="7">
                  <c:v>Trial 8</c:v>
                </c:pt>
                <c:pt idx="8">
                  <c:v>Trial 9</c:v>
                </c:pt>
                <c:pt idx="9">
                  <c:v>Trial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330</c:v>
                </c:pt>
                <c:pt idx="1">
                  <c:v>345</c:v>
                </c:pt>
                <c:pt idx="2">
                  <c:v>355</c:v>
                </c:pt>
                <c:pt idx="3">
                  <c:v>320</c:v>
                </c:pt>
                <c:pt idx="4">
                  <c:v>350</c:v>
                </c:pt>
                <c:pt idx="5">
                  <c:v>340</c:v>
                </c:pt>
                <c:pt idx="6">
                  <c:v>338</c:v>
                </c:pt>
                <c:pt idx="7">
                  <c:v>342</c:v>
                </c:pt>
                <c:pt idx="8">
                  <c:v>335</c:v>
                </c:pt>
                <c:pt idx="9">
                  <c:v>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0-3B4D-82E9-E85829158D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Outlet PM2.5</c:v>
                </c:pt>
              </c:strCache>
            </c:strRef>
          </c:tx>
          <c:spPr>
            <a:solidFill>
              <a:srgbClr val="A8D5B5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Trial 1</c:v>
                </c:pt>
                <c:pt idx="1">
                  <c:v>Trial 2</c:v>
                </c:pt>
                <c:pt idx="2">
                  <c:v>Trial 3</c:v>
                </c:pt>
                <c:pt idx="3">
                  <c:v>Trial 4</c:v>
                </c:pt>
                <c:pt idx="4">
                  <c:v>Trial 5</c:v>
                </c:pt>
                <c:pt idx="5">
                  <c:v>Trial 6</c:v>
                </c:pt>
                <c:pt idx="6">
                  <c:v>Trial 7</c:v>
                </c:pt>
                <c:pt idx="7">
                  <c:v>Trial 8</c:v>
                </c:pt>
                <c:pt idx="8">
                  <c:v>Trial 9</c:v>
                </c:pt>
                <c:pt idx="9">
                  <c:v>Trial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87</c:v>
                </c:pt>
                <c:pt idx="1">
                  <c:v>91</c:v>
                </c:pt>
                <c:pt idx="2">
                  <c:v>95</c:v>
                </c:pt>
                <c:pt idx="3">
                  <c:v>82</c:v>
                </c:pt>
                <c:pt idx="4">
                  <c:v>93</c:v>
                </c:pt>
                <c:pt idx="5">
                  <c:v>89</c:v>
                </c:pt>
                <c:pt idx="6">
                  <c:v>86</c:v>
                </c:pt>
                <c:pt idx="7">
                  <c:v>90</c:v>
                </c:pt>
                <c:pt idx="8">
                  <c:v>88</c:v>
                </c:pt>
                <c:pt idx="9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70-3B4D-82E9-E85829158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MQ135 Inlet vs Outlet (ppm)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Inlet MQ135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Trial 1</c:v>
                </c:pt>
                <c:pt idx="1">
                  <c:v>Trial 2</c:v>
                </c:pt>
                <c:pt idx="2">
                  <c:v>Trial 3</c:v>
                </c:pt>
                <c:pt idx="3">
                  <c:v>Trial 4</c:v>
                </c:pt>
                <c:pt idx="4">
                  <c:v>Trial 5</c:v>
                </c:pt>
                <c:pt idx="5">
                  <c:v>Trial 6</c:v>
                </c:pt>
                <c:pt idx="6">
                  <c:v>Trial 7</c:v>
                </c:pt>
                <c:pt idx="7">
                  <c:v>Trial 8</c:v>
                </c:pt>
                <c:pt idx="8">
                  <c:v>Trial 9</c:v>
                </c:pt>
                <c:pt idx="9">
                  <c:v>Trial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410</c:v>
                </c:pt>
                <c:pt idx="1">
                  <c:v>430</c:v>
                </c:pt>
                <c:pt idx="2">
                  <c:v>425</c:v>
                </c:pt>
                <c:pt idx="3">
                  <c:v>405</c:v>
                </c:pt>
                <c:pt idx="4">
                  <c:v>420</c:v>
                </c:pt>
                <c:pt idx="5">
                  <c:v>418</c:v>
                </c:pt>
                <c:pt idx="6">
                  <c:v>428</c:v>
                </c:pt>
                <c:pt idx="7">
                  <c:v>415</c:v>
                </c:pt>
                <c:pt idx="8">
                  <c:v>422</c:v>
                </c:pt>
                <c:pt idx="9">
                  <c:v>435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9A-9247-9B81-F9175C61D0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Outlet MQ135</c:v>
                </c:pt>
              </c:strCache>
            </c:strRef>
          </c:tx>
          <c:spPr>
            <a:solidFill>
              <a:srgbClr val="90CAF9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Trial 1</c:v>
                </c:pt>
                <c:pt idx="1">
                  <c:v>Trial 2</c:v>
                </c:pt>
                <c:pt idx="2">
                  <c:v>Trial 3</c:v>
                </c:pt>
                <c:pt idx="3">
                  <c:v>Trial 4</c:v>
                </c:pt>
                <c:pt idx="4">
                  <c:v>Trial 5</c:v>
                </c:pt>
                <c:pt idx="5">
                  <c:v>Trial 6</c:v>
                </c:pt>
                <c:pt idx="6">
                  <c:v>Trial 7</c:v>
                </c:pt>
                <c:pt idx="7">
                  <c:v>Trial 8</c:v>
                </c:pt>
                <c:pt idx="8">
                  <c:v>Trial 9</c:v>
                </c:pt>
                <c:pt idx="9">
                  <c:v>Trial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116</c:v>
                </c:pt>
                <c:pt idx="1">
                  <c:v>120</c:v>
                </c:pt>
                <c:pt idx="2">
                  <c:v>122</c:v>
                </c:pt>
                <c:pt idx="3">
                  <c:v>112</c:v>
                </c:pt>
                <c:pt idx="4">
                  <c:v>119</c:v>
                </c:pt>
                <c:pt idx="5">
                  <c:v>118</c:v>
                </c:pt>
                <c:pt idx="6">
                  <c:v>121</c:v>
                </c:pt>
                <c:pt idx="7">
                  <c:v>115</c:v>
                </c:pt>
                <c:pt idx="8">
                  <c:v>117</c:v>
                </c:pt>
                <c:pt idx="9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9A-9247-9B81-F9175C61D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Model Comparison — Accuracy Metrics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B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Test 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Hazardous Class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91.3</c:v>
                </c:pt>
                <c:pt idx="1">
                  <c:v>90.8</c:v>
                </c:pt>
                <c:pt idx="2">
                  <c:v>91.1</c:v>
                </c:pt>
                <c:pt idx="3">
                  <c:v>90.9</c:v>
                </c:pt>
                <c:pt idx="4">
                  <c:v>95.1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F5-3749-8915-55C02F4D70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90CAF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Test 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Hazardous Class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88.7</c:v>
                </c:pt>
                <c:pt idx="1">
                  <c:v>87.4</c:v>
                </c:pt>
                <c:pt idx="2">
                  <c:v>88.2</c:v>
                </c:pt>
                <c:pt idx="3">
                  <c:v>87.8</c:v>
                </c:pt>
                <c:pt idx="4">
                  <c:v>93.4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F5-3749-8915-55C02F4D70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Decision Tree Feature Importance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7E-4BDA-A2DC-68333CA6DC0E}"/>
              </c:ext>
            </c:extLst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7E-4BDA-A2DC-68333CA6DC0E}"/>
              </c:ext>
            </c:extLst>
          </c:dPt>
          <c:dPt>
            <c:idx val="2"/>
            <c:bubble3D val="0"/>
            <c:spPr>
              <a:solidFill>
                <a:srgbClr val="F6C9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7E-4BDA-A2DC-68333CA6DC0E}"/>
              </c:ext>
            </c:extLst>
          </c:dPt>
          <c:dPt>
            <c:idx val="3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7E-4BDA-A2DC-68333CA6DC0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227E-4BDA-A2DC-68333CA6DC0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227E-4BDA-A2DC-68333CA6DC0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227E-4BDA-A2DC-68333CA6DC0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227E-4BDA-A2DC-68333CA6DC0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PM2.5</c:v>
                </c:pt>
                <c:pt idx="1">
                  <c:v>MQ135</c:v>
                </c:pt>
                <c:pt idx="2">
                  <c:v>Temperature</c:v>
                </c:pt>
                <c:pt idx="3">
                  <c:v>Humidity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27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FE-DB47-A825-8608560C5D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(INR)</c:v>
                </c:pt>
              </c:strCache>
            </c:strRef>
          </c:tx>
          <c:spPr>
            <a:solidFill>
              <a:srgbClr val="1B6B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119-4B6E-BF8A-856D8F528178}"/>
              </c:ext>
            </c:extLst>
          </c:dPt>
          <c:dPt>
            <c:idx val="1"/>
            <c:invertIfNegative val="0"/>
            <c:bubble3D val="0"/>
            <c:spPr>
              <a:solidFill>
                <a:srgbClr val="D726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E119-4B6E-BF8A-856D8F528178}"/>
              </c:ext>
            </c:extLst>
          </c:dPt>
          <c:dPt>
            <c:idx val="2"/>
            <c:invertIfNegative val="0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E119-4B6E-BF8A-856D8F528178}"/>
              </c:ext>
            </c:extLst>
          </c:dPt>
          <c:dPt>
            <c:idx val="3"/>
            <c:invertIfNegative val="0"/>
            <c:bubble3D val="0"/>
            <c:spPr>
              <a:solidFill>
                <a:srgbClr val="7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E119-4B6E-BF8A-856D8F5281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This System</c:v>
                </c:pt>
                <c:pt idx="1">
                  <c:v>Entry HEPA Purifier</c:v>
                </c:pt>
                <c:pt idx="2">
                  <c:v>Mid-range HEPA</c:v>
                </c:pt>
                <c:pt idx="3">
                  <c:v>Premium HEPA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1520</c:v>
                </c:pt>
                <c:pt idx="1">
                  <c:v>8000</c:v>
                </c:pt>
                <c:pt idx="2">
                  <c:v>15000</c:v>
                </c:pt>
                <c:pt idx="3">
                  <c:v>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1-6245-8F51-0575D2C98D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1E075-AE9B-9945-9CC3-D578636087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9A3E8-69AF-D84D-A212-2C8A4BDB3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7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BA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Eco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Control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 + AI + ML Integrated Source-Level Purification System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Eco-Friendly Bamboo &amp; Charcoal Filtration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401568"/>
            <a:ext cx="5303520" cy="1078992"/>
          </a:xfrm>
          <a:prstGeom prst="rect">
            <a:avLst/>
          </a:prstGeom>
          <a:solidFill>
            <a:srgbClr val="132638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DeepThink  |  Projexa ID: 26E3261
</a:t>
            </a:r>
            <a:r>
              <a:rPr lang="en-US" sz="1050" dirty="0">
                <a:solidFill>
                  <a:srgbClr val="A8D5B5"/>
                </a:solidFill>
              </a:rPr>
              <a:t>Shubham (2301730100)  •  Suryansh (2301730126)
Brijesh (2301730134)  •  Kartik Yadav (2301730099)
</a:t>
            </a:r>
            <a:r>
              <a:rPr lang="en-US" sz="950" dirty="0">
                <a:solidFill>
                  <a:srgbClr val="6B7280"/>
                </a:solidFill>
              </a:rPr>
              <a:t>Supervisor: Mr. Anurag Singh  |  CSE-AI&amp;ML (Sec-B)  |  May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91440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0E1E30"/>
          </a:solidFill>
          <a:ln w="25400">
            <a:solidFill>
              <a:srgbClr val="5BAD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05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🌿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K.R. MANGALAM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3108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— 2023–27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472744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for: Final Major Project Evaluation  |  GitHub: shubham055555/AI-Based-Smart-Eco-Air-Pollution-Control-System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023360" cy="56692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65376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65376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86537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Gap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4023360" cy="56692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15184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15184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61518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64992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6499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36499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023360" cy="56692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14800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1148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Tools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115568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1556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11155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Build &amp; Methodology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1865376"/>
            <a:ext cx="4023360" cy="56692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865376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865376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186537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Design &amp; Training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15184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15184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261518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54880" y="3364992"/>
            <a:ext cx="4023360" cy="56692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364992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6499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336499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Advantages &amp; Cost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54880" y="4114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4114800"/>
            <a:ext cx="411480" cy="56692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1148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41148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kills ~7 million people annually (WHO, 2022). Yet most solutions are reactive, expensive, and unsustainable.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697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37360"/>
            <a:ext cx="2697480" cy="29260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55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Reactive Systems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AFTER pollutants spread — too late for source-level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737360"/>
            <a:ext cx="2697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737360"/>
            <a:ext cx="2697480" cy="29260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55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High Cost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20848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HEPA-based purifiers cost ₹8,000–₹25,000; inaccessible for small industries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737360"/>
            <a:ext cx="2697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737360"/>
            <a:ext cx="2697480" cy="29260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755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Non-Biodegradable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80760" y="20848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HEPA filters create secondary environmental waste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2697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17520"/>
            <a:ext cx="2697480" cy="29260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35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No Automation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36499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activation — no real-time adaptive intelligence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3017520"/>
            <a:ext cx="2697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3017520"/>
            <a:ext cx="2697480" cy="29260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035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Prediction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336499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ML-based forecasting; systems only react to current readings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3017520"/>
            <a:ext cx="269748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3017520"/>
            <a:ext cx="2697480" cy="29260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035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No Source Control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80760" y="336499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solution targets localized point sources like chimneys, workshops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&amp; Gurugram PM2.5 frequently exceeds 300 µg/m³  —  12× the WHO safe limit of 25 µg/m³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029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deaths/year due to PM2.5 + toxic gases (WHO 2022)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9202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2029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26334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 PM2.5 in cities like Delhi — 12× WHO limit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9202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2029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26864" y="26334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conventional HEPA purifiers — inaccessible for most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9202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2029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03136" y="26334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with unified IoT + ML + eco-filtration (gap in literature)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motivated by the urgent need for a low-cost, eco-friendly, AI-driven system that controls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at its source — before it spreads — using sustainable bamboo &amp; charcoal filtration.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Gap Analysis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28346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/ Author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Saha et al. (2017) — IoT 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IoT-based AQ sensing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active remediation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Ayele &amp; Mehta (2018) — ML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pollution trend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hardware filtration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Munera et al. — Smart City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IoT deployments analyzed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unified predict+control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Bharath Kumar Sai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87–92% accuracy with MQ135+ML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eco-filtration, no source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(2019) — Bamboo Carbon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Bamboo activated carbon — effective adsorption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integrated with IoT/AI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20040" y="4041648"/>
            <a:ext cx="8503920" cy="65836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Research Gap Addressed: No prior work combines real-time IoT monitoring + ML prediction + eco-friendly filtration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deployable prototype. This project directly bridges this gap.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804672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133856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source-level IoT air pollution control using eco-friendly filtration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29968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29968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066544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sensor data (PM2.5, MQ135, DHT11) and train ML models for AQI classification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62656"/>
            <a:ext cx="4160520" cy="804672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62656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62656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999232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filtration efficiency through 10 controlled experimental trials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8953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95344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95344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931920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system actuation response time &lt; 3 seconds from threshold exceedance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160520" cy="804672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97280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097280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4648" y="1133856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Logistic Regression and Decision Tree models; compare classification accuracy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299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029968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29968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84648" y="2066544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affordable solution (target: &lt; ₹2,000) for schools, workshops &amp; small industries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160520" cy="804672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62656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962656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84648" y="2999232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environmental impact by replacing synthetic HEPA with bamboo &amp; charcoal filters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8953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895344"/>
            <a:ext cx="438912" cy="80467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895344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84648" y="3931920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both indoor and outdoor deployment in pollution-intensive environments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5" name="Image 0" descr="/home/claude/arch_diagr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Description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667512"/>
          </a:xfrm>
          <a:prstGeom prst="rect">
            <a:avLst/>
          </a:prstGeom>
          <a:solidFill>
            <a:srgbClr val="F8FBF9"/>
          </a:solidFill>
          <a:ln w="12700">
            <a:solidFill>
              <a:srgbClr val="DCE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164592" cy="6675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Air Quality Sensors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624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(Temp &amp; Humidity), PM2.5 (GP2Y1010AU0F, 0–500 µg/m³), MQ135 Gas Sensor (10–1000 ppm). Sensors sample at 1-second intervals via Arduino's 10-bit ADC.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37944"/>
            <a:ext cx="8503920" cy="667512"/>
          </a:xfrm>
          <a:prstGeom prst="rect">
            <a:avLst/>
          </a:prstGeom>
          <a:solidFill>
            <a:srgbClr val="F8FBF9"/>
          </a:solidFill>
          <a:ln w="12700">
            <a:solidFill>
              <a:srgbClr val="DCE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37944"/>
            <a:ext cx="164592" cy="6675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56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Data Processing &amp; Control (Arduino UNO)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121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firmware processes raw ADC values into calibrated readings. Compares against CPCB thresholds: PM2.5 &gt; 100 µg/m³ or MQ135 &gt; 200 ppm triggers actuation.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8503920" cy="667512"/>
          </a:xfrm>
          <a:prstGeom prst="rect">
            <a:avLst/>
          </a:prstGeom>
          <a:solidFill>
            <a:srgbClr val="F8FBF9"/>
          </a:solidFill>
          <a:ln w="12700">
            <a:solidFill>
              <a:srgbClr val="DCE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96896"/>
            <a:ext cx="164592" cy="6675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151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Decision &amp; Actuation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AI: Low power mode below threshold. Fan at base speed when threshold exceeded. Fan at full speed when PM2.5 &gt; 200 µg/m³ (critical level). ±10 µg/m³ hysteresis prevents motor cycling.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55848"/>
            <a:ext cx="8503920" cy="667512"/>
          </a:xfrm>
          <a:prstGeom prst="rect">
            <a:avLst/>
          </a:prstGeom>
          <a:solidFill>
            <a:srgbClr val="F8FBF9"/>
          </a:solidFill>
          <a:ln w="12700">
            <a:solidFill>
              <a:srgbClr val="DCE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55848"/>
            <a:ext cx="164592" cy="6675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741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Eco-Friendly Filtration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6393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Polluted air passes through: (1) Pre-filter mesh — coarse PM. (2) Bamboo fiber layer — fine particulate. (3) Activated charcoal — gases, VOCs, odors. 73.8% PM2.5 reduction achieved.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67512"/>
          </a:xfrm>
          <a:prstGeom prst="rect">
            <a:avLst/>
          </a:prstGeom>
          <a:solidFill>
            <a:srgbClr val="F8FBF9"/>
          </a:solidFill>
          <a:ln w="12700">
            <a:solidFill>
              <a:srgbClr val="DCE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114800"/>
            <a:ext cx="164592" cy="6675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33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Output &amp; Monitoring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3982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air released. I2C LCD shows real-time PM2.5, MQ135, AQI class. Serial output to ML inference pipeline. Response time: 2.4 seconds average.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/ Data &amp; Resources</a:t>
            </a:r>
            <a:endParaRPr lang="en-US" sz="2600" dirty="0"/>
          </a:p>
        </p:txBody>
      </p:sp>
      <p:pic>
        <p:nvPicPr>
          <p:cNvPr id="5" name="Image 0" descr="/home/claude/tech_stac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05840"/>
            <a:ext cx="41148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17720" y="1078992"/>
            <a:ext cx="4206240" cy="667512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17720" y="1078992"/>
            <a:ext cx="384048" cy="66751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93208" y="109728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93208" y="13624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· PM2.5 Sensor (GP2Y1010AU0F)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· DHT11 · DC Motor+Fan · I2C LCD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1837944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837944"/>
            <a:ext cx="384048" cy="66751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93208" y="18562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93208" y="21214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/ Arduino 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control · Serial data output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17720" y="2596896"/>
            <a:ext cx="4206240" cy="667512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2596896"/>
            <a:ext cx="384048" cy="66751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93208" y="261518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93208" y="2880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(91.3%) · Decision Tree (88.7%)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· scikit-learn 1.3 · SMOTE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17720" y="33558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17720" y="3355848"/>
            <a:ext cx="384048" cy="66751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93208" y="3374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93208" y="3639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fiber pre-filter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charcoal adsorption layer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17720" y="4114800"/>
            <a:ext cx="4206240" cy="667512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7720" y="4114800"/>
            <a:ext cx="384048" cy="667512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93208" y="41330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93208" y="4398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real-time AQI display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logging → CSV for ML pipeline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 &amp; Physical Build</a:t>
            </a:r>
            <a:endParaRPr lang="en-US" sz="2600" dirty="0"/>
          </a:p>
        </p:txBody>
      </p:sp>
      <p:pic>
        <p:nvPicPr>
          <p:cNvPr id="5" name="Image 0" descr="/home/claude/build_gui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42062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078992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54880" y="1143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Specifications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600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 — 30cm × 20cm × 15cm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0" y="2002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20025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 (5V, 200mA) draws air inward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2404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Stack: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2404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Pre-mesh → Bamboo Fiber → Charcoal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28072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Zone: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2807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Inlet: PM2.5 + MQ135 + DHT11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54880" y="32095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3209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(16×2) shows AQI + PM2.5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0" y="3611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9320" y="3611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(ATmega328P, 16MHz)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4014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40142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DC regulated supply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0" y="4416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44165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~₹1,520 total (~USD 18)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System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1005840" cy="100584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783080" y="1737360"/>
            <a:ext cx="320040" cy="0"/>
          </a:xfrm>
          <a:prstGeom prst="line">
            <a:avLst/>
          </a:prstGeom>
          <a:noFill/>
          <a:ln w="38100">
            <a:solidFill>
              <a:srgbClr val="5BAD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MQ135,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@ 1s intervals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2304" y="1234440"/>
            <a:ext cx="1005840" cy="100584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02152" y="1737360"/>
            <a:ext cx="320040" cy="0"/>
          </a:xfrm>
          <a:prstGeom prst="line">
            <a:avLst/>
          </a:prstGeom>
          <a:noFill/>
          <a:ln w="38100">
            <a:solidFill>
              <a:srgbClr val="5BAD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93392" y="27432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ADC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values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51376" y="1234440"/>
            <a:ext cx="1005840" cy="100584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51376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221224" y="1737360"/>
            <a:ext cx="320040" cy="0"/>
          </a:xfrm>
          <a:prstGeom prst="line">
            <a:avLst/>
          </a:prstGeom>
          <a:noFill/>
          <a:ln w="38100">
            <a:solidFill>
              <a:srgbClr val="5BAD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12464" y="27432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adaptive fan speed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70448" y="1234440"/>
            <a:ext cx="1005840" cy="100584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70448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940296" y="1737360"/>
            <a:ext cx="320040" cy="0"/>
          </a:xfrm>
          <a:prstGeom prst="line">
            <a:avLst/>
          </a:prstGeom>
          <a:noFill/>
          <a:ln w="38100">
            <a:solidFill>
              <a:srgbClr val="5BAD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1536" y="27432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→ Charcoal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purification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1234440"/>
            <a:ext cx="1005840" cy="100584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50608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27432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DT 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class forecast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850392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9300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AI Decision Logic (Embedded C — Arduino)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(pm25 &gt; PM25_HIGH)           analogWrite(FAN_PIN, 255); // FULL speed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(pm25 &gt; PM25_THRESHOLD || (mq135 &gt; MQ135_THRESHOLD &amp;&amp; humidity &lt; HUMIDITY_GATE))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analogWrite(FAN_PIN, 180); // BASE speed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                          analogWrite(FAN_PIN, 0);   // STANDBY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Model Design &amp; Training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3794760"/>
          </a:xfrm>
          <a:prstGeom prst="rect">
            <a:avLst/>
          </a:prstGeom>
          <a:solidFill>
            <a:srgbClr val="F8FBF9"/>
          </a:solidFill>
          <a:ln w="12700">
            <a:solidFill>
              <a:srgbClr val="E0EDE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controlled trials × ~1,800 records = 18,000 total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environments: Lab (incense), Workshop, Classroom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Feature Vector (5 features):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PM2.5 concentration (µg/m³)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MQ135 output (ppm)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Temperature (°C)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Relative Humidity (%)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Time-of-day encoding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Target: 4-class AQI label (CPCB standards)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≤50 | Moderate 51–100 | Unhealthy 101–200 | Hazardous &gt;200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206240" cy="1783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0EDE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1704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(Primary)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49961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| Z-score normalization | C tuned via 5-fold CV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93.1%  •  Test: 91.3%  •  Macro F1: 90.9%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class accuracy: 95.1%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999232"/>
            <a:ext cx="4206240" cy="1874520"/>
          </a:xfrm>
          <a:prstGeom prst="rect">
            <a:avLst/>
          </a:prstGeom>
          <a:solidFill>
            <a:srgbClr val="F0F9F4"/>
          </a:solidFill>
          <a:ln w="12700">
            <a:solidFill>
              <a:srgbClr val="E0EDE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3090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(Secondary — Interpretable)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4107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algorithm | Gini impurity | Max depth: 6 (pruned)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94.5%  •  Test: 88.7%  •  Macro F1: 87.8%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feature: PM2.5 (importance: 0.61), MQ135 (0.27)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— suitable for embedded edge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709160"/>
            <a:ext cx="4206240" cy="201168"/>
          </a:xfrm>
          <a:prstGeom prst="rect">
            <a:avLst/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71830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Train/Test split  •  SMOTE for class imbalance  •  scikit-learn 1.3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Filtration Performance (10 Trials)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527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8562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Reduction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(340→89 µg/m³)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B6B35"/>
          </a:solidFill>
          <a:ln w="12700">
            <a:solidFill>
              <a:srgbClr val="1B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527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14600" y="18562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Reduction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(420→118 ppm)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2527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09160" y="18562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Response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30–60s HEPA)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14300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25272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903720" y="18562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Activations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humidity gating)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0040" y="2578608"/>
          <a:ext cx="5303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5760720" y="2578608"/>
          <a:ext cx="3063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ML Model Performance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78992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760720" y="1078992"/>
          <a:ext cx="3063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3401568"/>
            <a:ext cx="3063240" cy="1243584"/>
          </a:xfrm>
          <a:prstGeom prst="rect">
            <a:avLst/>
          </a:prstGeom>
          <a:solidFill>
            <a:srgbClr val="0D2137"/>
          </a:solidFill>
          <a:ln w="25400">
            <a:solidFill>
              <a:srgbClr val="5BAD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70448" y="34747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D6F"/>
                </a:solidFill>
              </a:rPr>
              <a:t>Key Insights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LR recommended as primary model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DT best for edge/embedded (interpretable)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</a:rPr>
              <a:t>• PM2.5 + MQ135 = 88% predictive power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Advantages &amp; Cost Analysis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32461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HEPA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Filtration 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Bamboo + Charcoal (biodegradable ✅)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HEPA (non-biodegradable 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LR (91.3%) + DT (88.7%)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AQI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(91.3% accuracy)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seconds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seconds 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₹1,520 (~USD 18)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₹8,000–₹25,000 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 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No 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Source-Level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ambient only 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320040" y="4480560"/>
          <a:ext cx="8503920" cy="45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Research Directions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20624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109728" cy="47548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3619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drops when PM2.5 &gt; 500 µg/m³ (filter saturation in 2–3 hours)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075688"/>
            <a:ext cx="420624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75688"/>
            <a:ext cx="109728" cy="47548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0312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Bamboo-charcoal filter needs replacement every 30–45 days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42616"/>
            <a:ext cx="420624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42616"/>
            <a:ext cx="109728" cy="47548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7004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trained on 18,000 records from 10 trials — needs broader real-world validation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209544"/>
            <a:ext cx="420624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209544"/>
            <a:ext cx="109728" cy="47548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23697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cross-sensitivity to humidity &gt;80% RH (mitigated but not eliminated)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776472"/>
            <a:ext cx="420624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76472"/>
            <a:ext cx="109728" cy="475488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80390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currently on companion PC — not yet fully embedded on MCU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4206240" cy="47548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1536192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66360" y="153619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ML on ESP32 via TensorFlow Lite / Edge Impulse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075688"/>
            <a:ext cx="4206240" cy="47548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103120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66360" y="210312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/ AWS IoT Core cloud dashboard &amp; alerts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642616"/>
            <a:ext cx="4206240" cy="47548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2670048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66360" y="2670048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deep learning for multi-step-ahead forecasting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9544"/>
            <a:ext cx="4206240" cy="47548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236976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66360" y="3236976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Multi-month field deployment for diverse training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776472"/>
            <a:ext cx="4206240" cy="47548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3803904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66360" y="3803904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(5W PV panel) for off-grid outdoor use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4343400"/>
            <a:ext cx="4206240" cy="475488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4370832"/>
            <a:ext cx="411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166360" y="437083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sensor network for spatial AQI mapping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DeepThink — K.R. Mangalam University  |  Major Project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0E1E30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13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81381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reduced by 73.8% (340 → 89 µg/m³) across 10 controlled trials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99032"/>
            <a:ext cx="8412480" cy="530352"/>
          </a:xfrm>
          <a:prstGeom prst="rect">
            <a:avLst/>
          </a:prstGeom>
          <a:solidFill>
            <a:srgbClr val="0E1E30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gaseous pollutants reduced by 71.9% (420 → 118 ppm)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8412480" cy="530352"/>
          </a:xfrm>
          <a:prstGeom prst="rect">
            <a:avLst/>
          </a:prstGeom>
          <a:solidFill>
            <a:srgbClr val="0E1E30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 time: 2.4 seconds — 12× faster than HEPA purifiers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8412480" cy="530352"/>
          </a:xfrm>
          <a:prstGeom prst="rect">
            <a:avLst/>
          </a:prstGeom>
          <a:solidFill>
            <a:srgbClr val="0E1E30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6791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91.3% accuracy | Decision Tree: 88.7%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8412480" cy="530352"/>
          </a:xfrm>
          <a:prstGeom prst="rect">
            <a:avLst/>
          </a:prstGeom>
          <a:solidFill>
            <a:srgbClr val="0E1E30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30098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cost: ₹1,520 (~USD 18) — 5–16× cheaper than HEPA alternatives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530352"/>
          </a:xfrm>
          <a:prstGeom prst="rect">
            <a:avLst/>
          </a:prstGeom>
          <a:solidFill>
            <a:srgbClr val="0E1E30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92277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 to unify IoT monitoring + ML prediction + eco-friendly filtration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B6B35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9028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"Smarter air. Greener planet. Healthier future." — Team DeepThink | K.R. Mangalam University |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73152"/>
          </a:xfrm>
          <a:prstGeom prst="rect">
            <a:avLst/>
          </a:prstGeom>
          <a:solidFill>
            <a:srgbClr val="5BAD6F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and feedback.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10512"/>
            <a:ext cx="914400" cy="91440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105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2301730100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1810512"/>
            <a:ext cx="914400" cy="91440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8105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Suryansh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3090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2301730126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74920" y="1810512"/>
            <a:ext cx="914400" cy="91440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8105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Brijesh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3090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2301730134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173736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1810512"/>
            <a:ext cx="914400" cy="914400"/>
          </a:xfrm>
          <a:prstGeom prst="ellipse">
            <a:avLst/>
          </a:prstGeom>
          <a:solidFill>
            <a:srgbClr val="1B6B35"/>
          </a:solidFill>
          <a:ln w="12700">
            <a:solidFill>
              <a:srgbClr val="5BAD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8105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7512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Yadav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3090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2301730099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EAF4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47288"/>
            <a:ext cx="8412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Anurag Singh (Asst. Professor, CSE)  |  K.R. Mangalam University, Gurugram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AI &amp; ML (Sec-B)  |  Project: AI-Based Smart Eco Air Pollution Control System  |  May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41648"/>
            <a:ext cx="841248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87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A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github.com/shubham055555/AI-Based-Smart-Eco-Air-Pollution-Control-System  |  Projexa Team ID: 26E3261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FFDE7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Shubham Sharma — Certified: 1M1B Green Internship (AICTE + Salesforce, Sep–Oct 2025) | Tableau + Sustainability + Live Project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2069</Words>
  <Application>Microsoft Office PowerPoint</Application>
  <PresentationFormat>On-screen Show (16:9)</PresentationFormat>
  <Paragraphs>325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Eco Air Pollution Control System</dc:title>
  <dc:subject>PptxGenJS Presentation</dc:subject>
  <dc:creator>DeepThink Team</dc:creator>
  <cp:lastModifiedBy>SHUBHAM</cp:lastModifiedBy>
  <cp:revision>2</cp:revision>
  <dcterms:created xsi:type="dcterms:W3CDTF">2026-04-04T11:23:43Z</dcterms:created>
  <dcterms:modified xsi:type="dcterms:W3CDTF">2026-04-04T11:28:15Z</dcterms:modified>
</cp:coreProperties>
</file>